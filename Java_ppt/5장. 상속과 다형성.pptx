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323" r:id="rId3"/>
    <p:sldId id="383" r:id="rId4"/>
    <p:sldId id="475" r:id="rId5"/>
    <p:sldId id="476" r:id="rId6"/>
    <p:sldId id="477" r:id="rId7"/>
    <p:sldId id="467" r:id="rId8"/>
    <p:sldId id="459" r:id="rId9"/>
    <p:sldId id="416" r:id="rId10"/>
    <p:sldId id="525" r:id="rId11"/>
    <p:sldId id="417" r:id="rId12"/>
    <p:sldId id="418" r:id="rId13"/>
    <p:sldId id="526" r:id="rId14"/>
    <p:sldId id="523" r:id="rId15"/>
    <p:sldId id="524" r:id="rId16"/>
    <p:sldId id="528" r:id="rId17"/>
    <p:sldId id="478" r:id="rId18"/>
    <p:sldId id="482" r:id="rId19"/>
    <p:sldId id="483" r:id="rId20"/>
    <p:sldId id="479" r:id="rId21"/>
    <p:sldId id="527" r:id="rId22"/>
    <p:sldId id="489" r:id="rId23"/>
    <p:sldId id="490" r:id="rId24"/>
    <p:sldId id="491" r:id="rId25"/>
    <p:sldId id="492" r:id="rId26"/>
    <p:sldId id="515" r:id="rId27"/>
    <p:sldId id="518" r:id="rId28"/>
    <p:sldId id="519" r:id="rId29"/>
    <p:sldId id="520" r:id="rId30"/>
    <p:sldId id="521" r:id="rId3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66" y="6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5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상속과 </a:t>
            </a:r>
            <a:r>
              <a:rPr lang="ko-KR" altLang="en-US" sz="3600" b="1" dirty="0" err="1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다형성</a:t>
            </a:r>
            <a:endParaRPr lang="ko-KR" altLang="en-US" sz="36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000" i="1" dirty="0">
                <a:solidFill>
                  <a:schemeClr val="bg1"/>
                </a:solidFill>
              </a:rPr>
              <a:t>객체지향 언어</a:t>
            </a:r>
            <a:r>
              <a:rPr lang="en-US" altLang="ko-KR" sz="2000" i="1" dirty="0">
                <a:solidFill>
                  <a:schemeClr val="bg1"/>
                </a:solidFill>
              </a:rPr>
              <a:t>(OOP)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상속</a:t>
            </a:r>
            <a:r>
              <a:rPr lang="en-US" altLang="ko-KR" dirty="0"/>
              <a:t>(Inheritance)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1464" y="980728"/>
            <a:ext cx="8616032" cy="22670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상속이란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클래스를 </a:t>
            </a:r>
            <a:r>
              <a:rPr lang="ko-KR" altLang="en-US" sz="1800" dirty="0" err="1"/>
              <a:t>정의할때</a:t>
            </a:r>
            <a:r>
              <a:rPr lang="ko-KR" altLang="en-US" sz="1800" dirty="0"/>
              <a:t> 이미 구현된 클래스를 상속</a:t>
            </a:r>
            <a:r>
              <a:rPr lang="en-US" altLang="ko-KR" sz="1800" dirty="0"/>
              <a:t>(inheritance) </a:t>
            </a:r>
            <a:r>
              <a:rPr lang="ko-KR" altLang="en-US" sz="1800" dirty="0"/>
              <a:t>받아서 속성이나 기능</a:t>
            </a:r>
            <a:r>
              <a:rPr lang="en-US" altLang="ko-KR" sz="1800" dirty="0"/>
              <a:t>(</a:t>
            </a:r>
            <a:r>
              <a:rPr lang="ko-KR" altLang="en-US" sz="1800" dirty="0" err="1"/>
              <a:t>메서드</a:t>
            </a:r>
            <a:r>
              <a:rPr lang="en-US" altLang="ko-KR" sz="1800" dirty="0"/>
              <a:t>)</a:t>
            </a:r>
            <a:r>
              <a:rPr lang="ko-KR" altLang="en-US" sz="1800" dirty="0"/>
              <a:t>이 확장되는 클래스를 구현할 수 있다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002060"/>
                </a:solidFill>
              </a:rPr>
              <a:t>상속하는 클래스 </a:t>
            </a:r>
            <a:r>
              <a:rPr lang="en-US" altLang="ko-KR" sz="1800" dirty="0">
                <a:solidFill>
                  <a:srgbClr val="002060"/>
                </a:solidFill>
              </a:rPr>
              <a:t>: </a:t>
            </a:r>
            <a:r>
              <a:rPr lang="ko-KR" altLang="en-US" sz="1800" dirty="0">
                <a:solidFill>
                  <a:srgbClr val="002060"/>
                </a:solidFill>
              </a:rPr>
              <a:t>상위 클래스</a:t>
            </a:r>
            <a:r>
              <a:rPr lang="en-US" altLang="ko-KR" sz="1800" dirty="0">
                <a:solidFill>
                  <a:srgbClr val="002060"/>
                </a:solidFill>
              </a:rPr>
              <a:t>, parent class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002060"/>
                </a:solidFill>
              </a:rPr>
              <a:t>상속받는 클래스 </a:t>
            </a:r>
            <a:r>
              <a:rPr lang="en-US" altLang="ko-KR" sz="1800" dirty="0">
                <a:solidFill>
                  <a:srgbClr val="002060"/>
                </a:solidFill>
              </a:rPr>
              <a:t>: </a:t>
            </a:r>
            <a:r>
              <a:rPr lang="ko-KR" altLang="en-US" sz="1800" dirty="0">
                <a:solidFill>
                  <a:srgbClr val="002060"/>
                </a:solidFill>
              </a:rPr>
              <a:t>하위 클래스</a:t>
            </a:r>
            <a:r>
              <a:rPr lang="en-US" altLang="ko-KR" sz="1800" dirty="0">
                <a:solidFill>
                  <a:srgbClr val="002060"/>
                </a:solidFill>
              </a:rPr>
              <a:t>, child class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002060"/>
                </a:solidFill>
              </a:rPr>
              <a:t>클래스 상속 문법</a:t>
            </a:r>
            <a:r>
              <a:rPr lang="en-US" altLang="ko-KR" sz="1800" dirty="0">
                <a:solidFill>
                  <a:srgbClr val="002060"/>
                </a:solidFill>
              </a:rPr>
              <a:t>  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sp>
        <p:nvSpPr>
          <p:cNvPr id="19" name="직사각형 18"/>
          <p:cNvSpPr/>
          <p:nvPr/>
        </p:nvSpPr>
        <p:spPr>
          <a:xfrm>
            <a:off x="1352598" y="3362478"/>
            <a:ext cx="2458687" cy="128517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+mn-ea"/>
              </a:rPr>
              <a:t>  </a:t>
            </a:r>
          </a:p>
          <a:p>
            <a:r>
              <a:rPr lang="en-US" altLang="ko-KR" sz="2000" dirty="0">
                <a:latin typeface="+mn-ea"/>
              </a:rPr>
              <a:t>class B 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extends</a:t>
            </a:r>
            <a:r>
              <a:rPr lang="en-US" altLang="ko-KR" sz="2000" dirty="0">
                <a:latin typeface="+mn-ea"/>
              </a:rPr>
              <a:t> A{</a:t>
            </a:r>
          </a:p>
          <a:p>
            <a:r>
              <a:rPr lang="en-US" altLang="ko-KR" sz="2000" dirty="0">
                <a:latin typeface="+mn-ea"/>
              </a:rPr>
              <a:t>     …..</a:t>
            </a:r>
          </a:p>
          <a:p>
            <a:r>
              <a:rPr lang="en-US" altLang="ko-KR" sz="2000" dirty="0">
                <a:latin typeface="+mn-ea"/>
              </a:rPr>
              <a:t>}</a:t>
            </a:r>
          </a:p>
          <a:p>
            <a:endParaRPr lang="en-US" altLang="ko-KR" sz="2000" dirty="0">
              <a:latin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169024" y="3429001"/>
            <a:ext cx="1656184" cy="7200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A </a:t>
            </a:r>
            <a:r>
              <a:rPr lang="ko-KR" altLang="en-US" dirty="0">
                <a:latin typeface="+mn-ea"/>
              </a:rPr>
              <a:t>클래스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169024" y="4867776"/>
            <a:ext cx="1656184" cy="7200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B </a:t>
            </a:r>
            <a:r>
              <a:rPr lang="ko-KR" altLang="en-US" dirty="0">
                <a:latin typeface="+mn-ea"/>
              </a:rPr>
              <a:t>클래스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06C641F-1CDB-4B8D-B46C-A221C6864735}"/>
              </a:ext>
            </a:extLst>
          </p:cNvPr>
          <p:cNvGrpSpPr/>
          <p:nvPr/>
        </p:nvGrpSpPr>
        <p:grpSpPr>
          <a:xfrm>
            <a:off x="5869611" y="4171004"/>
            <a:ext cx="255009" cy="676234"/>
            <a:chOff x="4022240" y="4146776"/>
            <a:chExt cx="164428" cy="628486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022240" y="4146776"/>
              <a:ext cx="164428" cy="165165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H="1">
              <a:off x="4102218" y="4311941"/>
              <a:ext cx="2236" cy="46332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직사각형 24"/>
          <p:cNvSpPr/>
          <p:nvPr/>
        </p:nvSpPr>
        <p:spPr>
          <a:xfrm>
            <a:off x="7107858" y="3523502"/>
            <a:ext cx="2025526" cy="199373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>
                <a:latin typeface="+mn-ea"/>
              </a:rPr>
              <a:t>A </a:t>
            </a:r>
            <a:r>
              <a:rPr lang="ko-KR" altLang="en-US" sz="1600" dirty="0">
                <a:latin typeface="+mn-ea"/>
              </a:rPr>
              <a:t>클래스가 </a:t>
            </a:r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>
                <a:latin typeface="+mn-ea"/>
              </a:rPr>
              <a:t>클래스에서 상속한다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r>
              <a:rPr lang="en-US" altLang="ko-KR" sz="1600" dirty="0">
                <a:latin typeface="+mn-ea"/>
              </a:rPr>
              <a:t>…</a:t>
            </a:r>
          </a:p>
          <a:p>
            <a:r>
              <a:rPr lang="en-US" altLang="ko-KR" sz="1600" dirty="0">
                <a:latin typeface="+mn-ea"/>
              </a:rPr>
              <a:t>B</a:t>
            </a:r>
            <a:r>
              <a:rPr lang="ko-KR" altLang="en-US" sz="1600" dirty="0">
                <a:latin typeface="+mn-ea"/>
              </a:rPr>
              <a:t>클래스가 </a:t>
            </a:r>
            <a:r>
              <a:rPr lang="en-US" altLang="ko-KR" sz="1600" dirty="0">
                <a:latin typeface="+mn-ea"/>
              </a:rPr>
              <a:t>A</a:t>
            </a:r>
            <a:r>
              <a:rPr lang="ko-KR" altLang="en-US" sz="1600" dirty="0">
                <a:latin typeface="+mn-ea"/>
              </a:rPr>
              <a:t>클래스에게 상속받는다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cxnSp>
        <p:nvCxnSpPr>
          <p:cNvPr id="8" name="직선 연결선 7"/>
          <p:cNvCxnSpPr/>
          <p:nvPr/>
        </p:nvCxnSpPr>
        <p:spPr>
          <a:xfrm>
            <a:off x="5993648" y="4572366"/>
            <a:ext cx="1112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형 설명선 8"/>
          <p:cNvSpPr/>
          <p:nvPr/>
        </p:nvSpPr>
        <p:spPr>
          <a:xfrm>
            <a:off x="4160912" y="3212976"/>
            <a:ext cx="1120721" cy="720080"/>
          </a:xfrm>
          <a:prstGeom prst="wedgeEllipseCallout">
            <a:avLst>
              <a:gd name="adj1" fmla="val 47268"/>
              <a:gd name="adj2" fmla="val 493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상위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클래스</a:t>
            </a:r>
          </a:p>
        </p:txBody>
      </p:sp>
      <p:sp>
        <p:nvSpPr>
          <p:cNvPr id="30" name="타원형 설명선 29"/>
          <p:cNvSpPr/>
          <p:nvPr/>
        </p:nvSpPr>
        <p:spPr>
          <a:xfrm>
            <a:off x="4160912" y="4437112"/>
            <a:ext cx="1120721" cy="744750"/>
          </a:xfrm>
          <a:prstGeom prst="wedgeEllipseCallout">
            <a:avLst>
              <a:gd name="adj1" fmla="val 47268"/>
              <a:gd name="adj2" fmla="val 49308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하위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클래스</a:t>
            </a:r>
          </a:p>
        </p:txBody>
      </p:sp>
    </p:spTree>
    <p:extLst>
      <p:ext uri="{BB962C8B-B14F-4D97-AF65-F5344CB8AC3E}">
        <p14:creationId xmlns:p14="http://schemas.microsoft.com/office/powerpoint/2010/main" val="216713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차량과 전기차 클래스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차량과 전기차 클래스 상속 다이어그램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06C641F-1CDB-4B8D-B46C-A221C6864735}"/>
              </a:ext>
            </a:extLst>
          </p:cNvPr>
          <p:cNvGrpSpPr/>
          <p:nvPr/>
        </p:nvGrpSpPr>
        <p:grpSpPr>
          <a:xfrm rot="16200000">
            <a:off x="5041519" y="2172959"/>
            <a:ext cx="183001" cy="771552"/>
            <a:chOff x="4022240" y="4146776"/>
            <a:chExt cx="164428" cy="628486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022240" y="4146776"/>
              <a:ext cx="164428" cy="165165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H="1">
              <a:off x="4102218" y="4311941"/>
              <a:ext cx="2236" cy="46332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직사각형 14"/>
          <p:cNvSpPr/>
          <p:nvPr/>
        </p:nvSpPr>
        <p:spPr>
          <a:xfrm>
            <a:off x="1366502" y="1809032"/>
            <a:ext cx="265403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Car</a:t>
            </a:r>
            <a:endParaRPr lang="ko-KR" altLang="en-US" sz="2000" dirty="0"/>
          </a:p>
        </p:txBody>
      </p:sp>
      <p:sp>
        <p:nvSpPr>
          <p:cNvPr id="18" name="직사각형 17"/>
          <p:cNvSpPr/>
          <p:nvPr/>
        </p:nvSpPr>
        <p:spPr>
          <a:xfrm>
            <a:off x="1366502" y="2313088"/>
            <a:ext cx="2654030" cy="100811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-brand</a:t>
            </a:r>
          </a:p>
          <a:p>
            <a:r>
              <a:rPr lang="en-US" altLang="ko-KR" sz="2000" dirty="0"/>
              <a:t> -model</a:t>
            </a:r>
          </a:p>
          <a:p>
            <a:r>
              <a:rPr lang="en-US" altLang="ko-KR" sz="2000" dirty="0"/>
              <a:t> -speed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366502" y="3302647"/>
            <a:ext cx="2654030" cy="9860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+accelerate()</a:t>
            </a:r>
          </a:p>
          <a:p>
            <a:r>
              <a:rPr lang="en-US" altLang="ko-KR" sz="2000" dirty="0"/>
              <a:t> +brake()</a:t>
            </a:r>
          </a:p>
          <a:p>
            <a:r>
              <a:rPr lang="en-US" altLang="ko-KR" sz="2000" dirty="0"/>
              <a:t> +</a:t>
            </a:r>
            <a:r>
              <a:rPr lang="en-US" altLang="ko-KR" sz="2000" dirty="0" err="1"/>
              <a:t>showInfo</a:t>
            </a:r>
            <a:r>
              <a:rPr lang="en-US" altLang="ko-KR" sz="2000" dirty="0"/>
              <a:t>()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601072" y="1672374"/>
            <a:ext cx="216024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EV(</a:t>
            </a:r>
            <a:r>
              <a:rPr lang="ko-KR" altLang="en-US" sz="2000" dirty="0"/>
              <a:t>전기차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26" name="직사각형 25"/>
          <p:cNvSpPr/>
          <p:nvPr/>
        </p:nvSpPr>
        <p:spPr>
          <a:xfrm>
            <a:off x="5601072" y="2176430"/>
            <a:ext cx="216024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battery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601072" y="2682339"/>
            <a:ext cx="2160240" cy="86224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charge()</a:t>
            </a:r>
          </a:p>
          <a:p>
            <a:r>
              <a:rPr lang="en-US" altLang="ko-KR" sz="2000" dirty="0"/>
              <a:t> </a:t>
            </a:r>
            <a:r>
              <a:rPr lang="en-US" altLang="ko-KR" sz="2000" dirty="0" err="1"/>
              <a:t>showInfo</a:t>
            </a:r>
            <a:r>
              <a:rPr lang="en-US" altLang="ko-KR" sz="2000" dirty="0"/>
              <a:t>()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2DC1C1-1950-25A4-4DF2-75E1F83F6D00}"/>
              </a:ext>
            </a:extLst>
          </p:cNvPr>
          <p:cNvSpPr/>
          <p:nvPr/>
        </p:nvSpPr>
        <p:spPr>
          <a:xfrm>
            <a:off x="4558455" y="3717610"/>
            <a:ext cx="2654030" cy="5040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Cart</a:t>
            </a:r>
            <a:endParaRPr lang="ko-KR" altLang="en-US" sz="2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4028C3-822D-F7B1-49AE-7DBBDC85693B}"/>
              </a:ext>
            </a:extLst>
          </p:cNvPr>
          <p:cNvSpPr/>
          <p:nvPr/>
        </p:nvSpPr>
        <p:spPr>
          <a:xfrm>
            <a:off x="4558455" y="4221666"/>
            <a:ext cx="2654030" cy="53276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-items: list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53D1B1-7B67-CA5E-705F-46F593BE12A7}"/>
              </a:ext>
            </a:extLst>
          </p:cNvPr>
          <p:cNvSpPr/>
          <p:nvPr/>
        </p:nvSpPr>
        <p:spPr>
          <a:xfrm>
            <a:off x="4558455" y="4754431"/>
            <a:ext cx="2654030" cy="14428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/>
              <a:t> +</a:t>
            </a:r>
            <a:r>
              <a:rPr lang="en-US" altLang="ko-KR" sz="2000" dirty="0" err="1"/>
              <a:t>add_item</a:t>
            </a:r>
            <a:r>
              <a:rPr lang="en-US" altLang="ko-KR" sz="2000" dirty="0"/>
              <a:t>()</a:t>
            </a:r>
          </a:p>
          <a:p>
            <a:r>
              <a:rPr lang="en-US" altLang="ko-KR" sz="2000" dirty="0"/>
              <a:t> +</a:t>
            </a:r>
            <a:r>
              <a:rPr lang="en-US" altLang="ko-KR" sz="2000" dirty="0" err="1"/>
              <a:t>remove_item</a:t>
            </a:r>
            <a:r>
              <a:rPr lang="en-US" altLang="ko-KR" sz="2000" dirty="0"/>
              <a:t>()</a:t>
            </a:r>
          </a:p>
          <a:p>
            <a:r>
              <a:rPr lang="en-US" altLang="ko-KR" sz="2000" dirty="0"/>
              <a:t> +</a:t>
            </a:r>
            <a:r>
              <a:rPr lang="en-US" altLang="ko-KR" sz="2000" dirty="0" err="1"/>
              <a:t>get_items</a:t>
            </a:r>
            <a:r>
              <a:rPr lang="en-US" altLang="ko-KR" sz="2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35456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차량과 전기차 클래스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68852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차량과 전기차 클래스 상속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  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33591"/>
            <a:ext cx="8074972" cy="39300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709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차량과 전기차 클래스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68852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차량과 전기차 클래스 상속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  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624625"/>
            <a:ext cx="8496944" cy="32337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7159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super() – </a:t>
            </a:r>
            <a:r>
              <a:rPr lang="ko-KR" altLang="en-US" dirty="0"/>
              <a:t>부모 멤버 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4" y="1017973"/>
            <a:ext cx="68852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생성자</a:t>
            </a:r>
            <a:r>
              <a:rPr lang="ko-KR" altLang="en-US" sz="2000" b="1" dirty="0">
                <a:solidFill>
                  <a:srgbClr val="C00000"/>
                </a:solidFill>
              </a:rPr>
              <a:t> 및 메서드 상속</a:t>
            </a:r>
            <a:r>
              <a:rPr lang="ko-KR" altLang="en-US" sz="2000" b="1" dirty="0"/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- super() </a:t>
            </a:r>
            <a:r>
              <a:rPr lang="ko-KR" altLang="en-US" sz="2000" b="1" dirty="0">
                <a:solidFill>
                  <a:srgbClr val="C00000"/>
                </a:solidFill>
              </a:rPr>
              <a:t>사용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7677387" cy="47828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560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메서드 재정의</a:t>
            </a:r>
            <a:r>
              <a:rPr lang="en-US" altLang="ko-KR" dirty="0"/>
              <a:t>(Overriding)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052736"/>
            <a:ext cx="8337399" cy="15841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>
                <a:solidFill>
                  <a:srgbClr val="C00000"/>
                </a:solidFill>
              </a:rPr>
              <a:t>메소드</a:t>
            </a:r>
            <a:r>
              <a:rPr lang="ko-KR" altLang="en-US" sz="2000" b="1" dirty="0">
                <a:solidFill>
                  <a:srgbClr val="C00000"/>
                </a:solidFill>
              </a:rPr>
              <a:t> 상속 및 재정의</a:t>
            </a:r>
            <a:r>
              <a:rPr lang="en-US" altLang="ko-KR" sz="2000" b="1" dirty="0">
                <a:solidFill>
                  <a:srgbClr val="C00000"/>
                </a:solidFill>
              </a:rPr>
              <a:t>(Method Overriding)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상속된 메서드의 내용이 자식 클래스에 맞지 않을 경우</a:t>
            </a:r>
            <a:r>
              <a:rPr lang="en-US" altLang="ko-KR" sz="1800" dirty="0"/>
              <a:t>, </a:t>
            </a:r>
            <a:r>
              <a:rPr lang="ko-KR" altLang="en-US" sz="1800" dirty="0"/>
              <a:t>자식 클래스에서 동일한 메서드를 재정의 하는 것을 말한다</a:t>
            </a:r>
            <a:r>
              <a:rPr lang="en-US" altLang="ko-KR" sz="1800" dirty="0"/>
              <a:t>.</a:t>
            </a:r>
            <a:r>
              <a:rPr lang="en-US" altLang="ko-KR" sz="1800" b="1" dirty="0">
                <a:solidFill>
                  <a:srgbClr val="002060"/>
                </a:solidFill>
              </a:rPr>
              <a:t>  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 err="1">
                <a:solidFill>
                  <a:srgbClr val="002060"/>
                </a:solidFill>
              </a:rPr>
              <a:t>단축메뉴</a:t>
            </a:r>
            <a:r>
              <a:rPr lang="ko-KR" altLang="en-US" sz="1800" b="1" dirty="0">
                <a:solidFill>
                  <a:srgbClr val="002060"/>
                </a:solidFill>
              </a:rPr>
              <a:t> </a:t>
            </a:r>
            <a:r>
              <a:rPr lang="en-US" altLang="ko-KR" sz="1800" b="1" dirty="0">
                <a:solidFill>
                  <a:srgbClr val="002060"/>
                </a:solidFill>
              </a:rPr>
              <a:t>&gt; Source &gt; Override/Implement Methods </a:t>
            </a:r>
            <a:endParaRPr lang="en-US" altLang="ko-KR" sz="2000" dirty="0"/>
          </a:p>
        </p:txBody>
      </p:sp>
      <p:sp>
        <p:nvSpPr>
          <p:cNvPr id="3" name="오른쪽 화살표 2"/>
          <p:cNvSpPr/>
          <p:nvPr/>
        </p:nvSpPr>
        <p:spPr>
          <a:xfrm>
            <a:off x="6053561" y="4348394"/>
            <a:ext cx="432048" cy="165381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1568624" y="3140968"/>
            <a:ext cx="4632515" cy="2580236"/>
            <a:chOff x="1568624" y="3140968"/>
            <a:chExt cx="4632515" cy="2580236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9686" y="3140968"/>
              <a:ext cx="4176435" cy="258023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cxnSp>
          <p:nvCxnSpPr>
            <p:cNvPr id="8" name="직선 연결선 7"/>
            <p:cNvCxnSpPr/>
            <p:nvPr/>
          </p:nvCxnSpPr>
          <p:spPr>
            <a:xfrm>
              <a:off x="1568624" y="5085184"/>
              <a:ext cx="237626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3824875" y="3933056"/>
              <a:ext cx="2376264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rcRect r="19811"/>
          <a:stretch/>
        </p:blipFill>
        <p:spPr>
          <a:xfrm>
            <a:off x="6639495" y="3278456"/>
            <a:ext cx="2520280" cy="21398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1590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매출 전표 만들기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424608" y="1628801"/>
            <a:ext cx="5087640" cy="8640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2060"/>
                </a:solidFill>
              </a:rPr>
              <a:t>Drink(</a:t>
            </a:r>
            <a:r>
              <a:rPr lang="ko-KR" altLang="en-US" sz="1800" dirty="0">
                <a:solidFill>
                  <a:srgbClr val="002060"/>
                </a:solidFill>
              </a:rPr>
              <a:t>음료</a:t>
            </a:r>
            <a:r>
              <a:rPr lang="en-US" altLang="ko-KR" sz="1800" dirty="0">
                <a:solidFill>
                  <a:srgbClr val="002060"/>
                </a:solidFill>
              </a:rPr>
              <a:t>) </a:t>
            </a:r>
            <a:r>
              <a:rPr lang="ko-KR" altLang="en-US" sz="1800" dirty="0">
                <a:solidFill>
                  <a:srgbClr val="002060"/>
                </a:solidFill>
              </a:rPr>
              <a:t>클래스 만들기</a:t>
            </a:r>
            <a:endParaRPr lang="en-US" altLang="ko-KR" sz="1800" dirty="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2060"/>
                </a:solidFill>
              </a:rPr>
              <a:t>Drink</a:t>
            </a:r>
            <a:r>
              <a:rPr lang="ko-KR" altLang="en-US" sz="1800" dirty="0">
                <a:solidFill>
                  <a:srgbClr val="002060"/>
                </a:solidFill>
              </a:rPr>
              <a:t>를 상속한 </a:t>
            </a:r>
            <a:r>
              <a:rPr lang="en-US" altLang="ko-KR" sz="1800" dirty="0">
                <a:solidFill>
                  <a:srgbClr val="002060"/>
                </a:solidFill>
              </a:rPr>
              <a:t>Alcohol(</a:t>
            </a:r>
            <a:r>
              <a:rPr lang="ko-KR" altLang="en-US" sz="1800" dirty="0">
                <a:solidFill>
                  <a:srgbClr val="002060"/>
                </a:solidFill>
              </a:rPr>
              <a:t>술</a:t>
            </a:r>
            <a:r>
              <a:rPr lang="en-US" altLang="ko-KR" sz="1800" dirty="0">
                <a:solidFill>
                  <a:srgbClr val="002060"/>
                </a:solidFill>
              </a:rPr>
              <a:t>) </a:t>
            </a:r>
            <a:r>
              <a:rPr lang="ko-KR" altLang="en-US" sz="1800" dirty="0">
                <a:solidFill>
                  <a:srgbClr val="002060"/>
                </a:solidFill>
              </a:rPr>
              <a:t>클래스 만들기</a:t>
            </a:r>
            <a:endParaRPr lang="en-US" altLang="ko-KR" sz="1800" dirty="0">
              <a:solidFill>
                <a:srgbClr val="002060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144688" y="2636912"/>
            <a:ext cx="216024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+mn-ea"/>
              </a:rPr>
              <a:t>  </a:t>
            </a:r>
          </a:p>
          <a:p>
            <a:pPr algn="ctr"/>
            <a:r>
              <a:rPr lang="en-US" altLang="ko-KR" sz="2000" dirty="0">
                <a:latin typeface="+mn-ea"/>
              </a:rPr>
              <a:t>Drink(</a:t>
            </a:r>
            <a:r>
              <a:rPr lang="ko-KR" altLang="en-US" sz="2000" dirty="0">
                <a:latin typeface="+mn-ea"/>
              </a:rPr>
              <a:t>음료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algn="ctr"/>
            <a:endParaRPr lang="en-US" altLang="ko-KR" sz="2000" dirty="0"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133227" y="4074997"/>
            <a:ext cx="183161" cy="459908"/>
            <a:chOff x="4357443" y="3272952"/>
            <a:chExt cx="235517" cy="444080"/>
          </a:xfrm>
        </p:grpSpPr>
        <p:sp>
          <p:nvSpPr>
            <p:cNvPr id="23" name="이등변 삼각형 22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57443" y="3272952"/>
              <a:ext cx="235517" cy="154551"/>
            </a:xfrm>
            <a:prstGeom prst="triangl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4475202" y="3427503"/>
              <a:ext cx="0" cy="289529"/>
            </a:xfrm>
            <a:prstGeom prst="line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31" name="직사각형 30"/>
          <p:cNvSpPr/>
          <p:nvPr/>
        </p:nvSpPr>
        <p:spPr>
          <a:xfrm>
            <a:off x="2144688" y="4577405"/>
            <a:ext cx="216024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+mn-ea"/>
              </a:rPr>
              <a:t>  </a:t>
            </a:r>
          </a:p>
          <a:p>
            <a:pPr algn="ctr"/>
            <a:r>
              <a:rPr lang="en-US" altLang="ko-KR" sz="2000" dirty="0">
                <a:latin typeface="+mn-ea"/>
              </a:rPr>
              <a:t>Alcohol(</a:t>
            </a:r>
            <a:r>
              <a:rPr lang="ko-KR" altLang="en-US" sz="2000" dirty="0">
                <a:latin typeface="+mn-ea"/>
              </a:rPr>
              <a:t>주류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algn="ctr"/>
            <a:endParaRPr lang="en-US" altLang="ko-KR" sz="2000" dirty="0">
              <a:latin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144688" y="3197655"/>
            <a:ext cx="2160240" cy="803686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+mn-ea"/>
              </a:rPr>
              <a:t>  </a:t>
            </a:r>
          </a:p>
          <a:p>
            <a:r>
              <a:rPr lang="en-US" altLang="ko-KR" sz="2000" dirty="0">
                <a:latin typeface="+mn-ea"/>
              </a:rPr>
              <a:t> name, price</a:t>
            </a:r>
          </a:p>
          <a:p>
            <a:r>
              <a:rPr lang="en-US" altLang="ko-KR" sz="2000" dirty="0">
                <a:latin typeface="+mn-ea"/>
              </a:rPr>
              <a:t> count</a:t>
            </a:r>
          </a:p>
          <a:p>
            <a:endParaRPr lang="en-US" altLang="ko-KR" sz="2000" dirty="0">
              <a:latin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144688" y="5153469"/>
            <a:ext cx="216024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000" dirty="0">
                <a:latin typeface="+mn-ea"/>
              </a:rPr>
              <a:t>  </a:t>
            </a:r>
          </a:p>
          <a:p>
            <a:r>
              <a:rPr lang="en-US" altLang="ko-KR" sz="2000" dirty="0">
                <a:latin typeface="+mn-ea"/>
              </a:rPr>
              <a:t> </a:t>
            </a:r>
            <a:r>
              <a:rPr lang="en-US" altLang="ko-KR" sz="2000" dirty="0" err="1">
                <a:latin typeface="+mn-ea"/>
              </a:rPr>
              <a:t>alcper</a:t>
            </a:r>
            <a:endParaRPr lang="en-US" altLang="ko-KR" sz="20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매출전표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en-US" altLang="ko-KR" sz="2000" b="1" dirty="0" err="1">
                <a:solidFill>
                  <a:srgbClr val="C00000"/>
                </a:solidFill>
              </a:rPr>
              <a:t>salestatement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만들기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139" y="3197655"/>
            <a:ext cx="3978927" cy="18513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9129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매출 전표 </a:t>
            </a:r>
            <a:r>
              <a:rPr lang="en-US" altLang="ko-KR" dirty="0"/>
              <a:t>– Drink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Drink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15816"/>
            <a:ext cx="6859272" cy="40454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202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매출 전표 </a:t>
            </a:r>
            <a:r>
              <a:rPr lang="en-US" altLang="ko-KR" dirty="0"/>
              <a:t>– Drink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Drink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00808"/>
            <a:ext cx="7131305" cy="232281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305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Alcohol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02060"/>
                </a:solidFill>
              </a:rPr>
              <a:t>Alcohol </a:t>
            </a:r>
            <a:r>
              <a:rPr lang="ko-KR" altLang="en-US" sz="2000" b="1" dirty="0">
                <a:solidFill>
                  <a:srgbClr val="002060"/>
                </a:solidFill>
              </a:rPr>
              <a:t>클래스</a:t>
            </a:r>
            <a:endParaRPr lang="en-US" altLang="ko-KR" sz="2000" b="1" dirty="0">
              <a:solidFill>
                <a:srgbClr val="00206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15816"/>
            <a:ext cx="8010667" cy="44054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97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Main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SaleStatement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r>
              <a:rPr lang="en-US" altLang="ko-KR" sz="2000" b="1" dirty="0">
                <a:solidFill>
                  <a:srgbClr val="002060"/>
                </a:solidFill>
              </a:rPr>
              <a:t>1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5" y="1632354"/>
            <a:ext cx="7155339" cy="37408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7677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Main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SaleStatement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r>
              <a:rPr lang="en-US" altLang="ko-KR" sz="2000" b="1" dirty="0">
                <a:solidFill>
                  <a:srgbClr val="002060"/>
                </a:solidFill>
              </a:rPr>
              <a:t>1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52" y="1649485"/>
            <a:ext cx="8314812" cy="24781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161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Main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SaleStatement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r>
              <a:rPr lang="en-US" altLang="ko-KR" sz="2000" b="1" dirty="0">
                <a:solidFill>
                  <a:srgbClr val="002060"/>
                </a:solidFill>
              </a:rPr>
              <a:t>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700809"/>
            <a:ext cx="4931247" cy="40324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7258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매출 전표 </a:t>
            </a:r>
            <a:r>
              <a:rPr lang="en-US" altLang="ko-KR" dirty="0"/>
              <a:t>– Main </a:t>
            </a:r>
            <a:r>
              <a:rPr lang="ko-KR" altLang="en-US" dirty="0"/>
              <a:t>클래스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020375"/>
            <a:ext cx="5085038" cy="5954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002060"/>
                </a:solidFill>
              </a:rPr>
              <a:t>SaleStatement</a:t>
            </a:r>
            <a:r>
              <a:rPr lang="en-US" altLang="ko-KR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>
                <a:solidFill>
                  <a:srgbClr val="002060"/>
                </a:solidFill>
              </a:rPr>
              <a:t>테스트</a:t>
            </a:r>
            <a:r>
              <a:rPr lang="en-US" altLang="ko-KR" sz="2000" b="1" dirty="0">
                <a:solidFill>
                  <a:srgbClr val="002060"/>
                </a:solidFill>
              </a:rPr>
              <a:t>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0206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rgbClr val="002060"/>
                </a:solidFill>
              </a:rPr>
              <a:t>  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15817"/>
            <a:ext cx="7223084" cy="35413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1447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 문제</a:t>
            </a:r>
            <a:r>
              <a:rPr lang="en-US" altLang="ko-KR" dirty="0"/>
              <a:t> - </a:t>
            </a:r>
            <a:r>
              <a:rPr lang="ko-KR" altLang="en-US" dirty="0"/>
              <a:t>상속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58168" y="908720"/>
            <a:ext cx="8199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다음 코드는 오류가 발생합니다</a:t>
            </a:r>
            <a:r>
              <a:rPr lang="en-US" altLang="ko-KR" dirty="0"/>
              <a:t>. </a:t>
            </a:r>
            <a:r>
              <a:rPr lang="ko-KR" altLang="en-US" dirty="0"/>
              <a:t>오류를 설명하고 해결해 보세요              </a:t>
            </a:r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832050"/>
            <a:ext cx="4406362" cy="43204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54924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465299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다형성이란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  <a:endParaRPr lang="en-US" altLang="ko-KR" sz="1800" dirty="0"/>
          </a:p>
        </p:txBody>
      </p:sp>
      <p:sp>
        <p:nvSpPr>
          <p:cNvPr id="9" name="직사각형 8"/>
          <p:cNvSpPr/>
          <p:nvPr/>
        </p:nvSpPr>
        <p:spPr>
          <a:xfrm>
            <a:off x="3728864" y="3284984"/>
            <a:ext cx="1052292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Animal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363025" y="4796533"/>
            <a:ext cx="108012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Human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659169" y="4805691"/>
            <a:ext cx="108012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Horse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955313" y="4805691"/>
            <a:ext cx="1055755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Eagle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083103" y="3912293"/>
            <a:ext cx="2304258" cy="884240"/>
            <a:chOff x="3224806" y="3272951"/>
            <a:chExt cx="2592290" cy="884240"/>
          </a:xfrm>
        </p:grpSpPr>
        <p:grpSp>
          <p:nvGrpSpPr>
            <p:cNvPr id="11" name="그룹 10"/>
            <p:cNvGrpSpPr/>
            <p:nvPr/>
          </p:nvGrpSpPr>
          <p:grpSpPr>
            <a:xfrm>
              <a:off x="4403192" y="3272951"/>
              <a:ext cx="235517" cy="444080"/>
              <a:chOff x="4357443" y="3272952"/>
              <a:chExt cx="235517" cy="444080"/>
            </a:xfrm>
          </p:grpSpPr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A928C65B-0F62-4DFC-9220-DF40E5958238}"/>
                  </a:ext>
                </a:extLst>
              </p:cNvPr>
              <p:cNvSpPr/>
              <p:nvPr/>
            </p:nvSpPr>
            <p:spPr>
              <a:xfrm>
                <a:off x="4357443" y="3272952"/>
                <a:ext cx="235517" cy="154551"/>
              </a:xfrm>
              <a:prstGeom prst="triangl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D15E6F92-B9C8-4563-8C4E-646F583209B9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4475202" y="3427503"/>
                <a:ext cx="0" cy="289529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cxnSp>
        </p:grpSp>
        <p:grpSp>
          <p:nvGrpSpPr>
            <p:cNvPr id="2" name="그룹 1"/>
            <p:cNvGrpSpPr/>
            <p:nvPr/>
          </p:nvGrpSpPr>
          <p:grpSpPr>
            <a:xfrm>
              <a:off x="3224806" y="3717032"/>
              <a:ext cx="2592290" cy="440159"/>
              <a:chOff x="3152799" y="3717032"/>
              <a:chExt cx="2592290" cy="440159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3152799" y="3717032"/>
                <a:ext cx="1296145" cy="440159"/>
                <a:chOff x="1406902" y="3597087"/>
                <a:chExt cx="2271555" cy="440159"/>
              </a:xfrm>
            </p:grpSpPr>
            <p:cxnSp>
              <p:nvCxnSpPr>
                <p:cNvPr id="17" name="직선 연결선 16"/>
                <p:cNvCxnSpPr/>
                <p:nvPr/>
              </p:nvCxnSpPr>
              <p:spPr>
                <a:xfrm>
                  <a:off x="1406902" y="3597087"/>
                  <a:ext cx="2271555" cy="0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18" name="직선 연결선 17"/>
                <p:cNvCxnSpPr/>
                <p:nvPr/>
              </p:nvCxnSpPr>
              <p:spPr>
                <a:xfrm>
                  <a:off x="1406902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19" name="직선 연결선 18"/>
                <p:cNvCxnSpPr/>
                <p:nvPr/>
              </p:nvCxnSpPr>
              <p:spPr>
                <a:xfrm>
                  <a:off x="3678457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22" name="그룹 21"/>
              <p:cNvGrpSpPr/>
              <p:nvPr/>
            </p:nvGrpSpPr>
            <p:grpSpPr>
              <a:xfrm>
                <a:off x="4448944" y="3717032"/>
                <a:ext cx="1296145" cy="440159"/>
                <a:chOff x="1406902" y="3597087"/>
                <a:chExt cx="2271555" cy="440159"/>
              </a:xfrm>
            </p:grpSpPr>
            <p:cxnSp>
              <p:nvCxnSpPr>
                <p:cNvPr id="23" name="직선 연결선 22"/>
                <p:cNvCxnSpPr/>
                <p:nvPr/>
              </p:nvCxnSpPr>
              <p:spPr>
                <a:xfrm>
                  <a:off x="1406902" y="3597087"/>
                  <a:ext cx="2271555" cy="0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4" name="직선 연결선 23"/>
                <p:cNvCxnSpPr/>
                <p:nvPr/>
              </p:nvCxnSpPr>
              <p:spPr>
                <a:xfrm>
                  <a:off x="1406902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5" name="직선 연결선 24"/>
                <p:cNvCxnSpPr/>
                <p:nvPr/>
              </p:nvCxnSpPr>
              <p:spPr>
                <a:xfrm>
                  <a:off x="3678457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</p:grpSp>
        </p:grpSp>
      </p:grpSp>
      <p:sp>
        <p:nvSpPr>
          <p:cNvPr id="27" name="TextBox 26"/>
          <p:cNvSpPr txBox="1"/>
          <p:nvPr/>
        </p:nvSpPr>
        <p:spPr>
          <a:xfrm>
            <a:off x="1265140" y="1514108"/>
            <a:ext cx="75882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/>
              <a:t>다형성</a:t>
            </a:r>
            <a:r>
              <a:rPr lang="en-US" altLang="ko-KR" sz="1600" b="1" dirty="0"/>
              <a:t>(polymorphism)</a:t>
            </a:r>
            <a:r>
              <a:rPr lang="ko-KR" altLang="en-US" sz="1600" dirty="0"/>
              <a:t>이란 하나의 타입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자료형</a:t>
            </a:r>
            <a:r>
              <a:rPr lang="en-US" altLang="ko-KR" sz="1600" dirty="0"/>
              <a:t>)</a:t>
            </a:r>
            <a:r>
              <a:rPr lang="ko-KR" altLang="en-US" sz="1600" dirty="0"/>
              <a:t>에 대입되는 객체에 따라서 실행결과가 다양한 형태로 나오는 성질을 말한다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동적 바인딩 </a:t>
            </a:r>
            <a:r>
              <a:rPr lang="en-US" altLang="ko-KR" sz="1600" dirty="0"/>
              <a:t>– </a:t>
            </a:r>
            <a:r>
              <a:rPr lang="ko-KR" altLang="en-US" sz="1600" dirty="0"/>
              <a:t>메서드가 인스턴스의 타입에 맞게 실행되는 것을 말한다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코드의 </a:t>
            </a:r>
            <a:r>
              <a:rPr lang="ko-KR" altLang="en-US" sz="1600" dirty="0" err="1"/>
              <a:t>재사용성</a:t>
            </a:r>
            <a:r>
              <a:rPr lang="ko-KR" altLang="en-US" sz="1600" dirty="0"/>
              <a:t> 향상</a:t>
            </a:r>
            <a:r>
              <a:rPr lang="en-US" altLang="ko-KR" sz="1600" dirty="0"/>
              <a:t>, </a:t>
            </a:r>
            <a:r>
              <a:rPr lang="ko-KR" altLang="en-US" sz="1600" dirty="0"/>
              <a:t>유지 보수 용이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169621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990290"/>
            <a:ext cx="796888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r>
              <a:rPr lang="ko-KR" altLang="en-US" sz="2000" b="1" dirty="0">
                <a:solidFill>
                  <a:srgbClr val="C00000"/>
                </a:solidFill>
              </a:rPr>
              <a:t> 예제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5" y="1556792"/>
            <a:ext cx="5878518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83525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45923"/>
            <a:ext cx="465299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– </a:t>
            </a:r>
            <a:r>
              <a:rPr lang="ko-KR" altLang="en-US" sz="2000" b="1" dirty="0">
                <a:solidFill>
                  <a:srgbClr val="C00000"/>
                </a:solidFill>
              </a:rPr>
              <a:t>인스턴스 생성</a:t>
            </a:r>
            <a:endParaRPr lang="en-US" altLang="ko-KR" sz="18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21988"/>
            <a:ext cx="5184576" cy="46881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103" y="4725144"/>
            <a:ext cx="3570041" cy="9361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1102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자동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1" name="육각형 30"/>
          <p:cNvSpPr/>
          <p:nvPr/>
        </p:nvSpPr>
        <p:spPr>
          <a:xfrm>
            <a:off x="3585945" y="2780928"/>
            <a:ext cx="1134878" cy="792088"/>
          </a:xfrm>
          <a:prstGeom prst="hexagon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상위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4070283" y="3657001"/>
            <a:ext cx="166201" cy="603251"/>
            <a:chOff x="4357443" y="3272952"/>
            <a:chExt cx="235517" cy="444080"/>
          </a:xfrm>
        </p:grpSpPr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A928C65B-0F62-4DFC-9220-DF40E5958238}"/>
                </a:ext>
              </a:extLst>
            </p:cNvPr>
            <p:cNvSpPr/>
            <p:nvPr/>
          </p:nvSpPr>
          <p:spPr>
            <a:xfrm>
              <a:off x="4357443" y="3272952"/>
              <a:ext cx="235517" cy="154551"/>
            </a:xfrm>
            <a:prstGeom prst="triangl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D15E6F92-B9C8-4563-8C4E-646F583209B9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>
              <a:off x="4475202" y="3427503"/>
              <a:ext cx="0" cy="289529"/>
            </a:xfrm>
            <a:prstGeom prst="line">
              <a:avLst/>
            </a:pr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  <p:sp>
        <p:nvSpPr>
          <p:cNvPr id="48" name="TextBox 47"/>
          <p:cNvSpPr txBox="1"/>
          <p:nvPr/>
        </p:nvSpPr>
        <p:spPr>
          <a:xfrm>
            <a:off x="1352600" y="1556792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ko-KR" altLang="en-US" dirty="0">
                <a:solidFill>
                  <a:srgbClr val="002060"/>
                </a:solidFill>
              </a:rPr>
              <a:t>타입 변환이란 다른 타입으로 변환하는 행위를 말한다</a:t>
            </a:r>
            <a:r>
              <a:rPr lang="en-US" altLang="ko-KR" dirty="0">
                <a:solidFill>
                  <a:srgbClr val="002060"/>
                </a:solidFill>
              </a:rPr>
              <a:t>. </a:t>
            </a:r>
            <a:r>
              <a:rPr lang="ko-KR" altLang="en-US" dirty="0">
                <a:solidFill>
                  <a:srgbClr val="002060"/>
                </a:solidFill>
              </a:rPr>
              <a:t>클래스도 기본타입처럼 형 변환을 하는데 상속 관계에 있는 클래스 사이에서 발생한다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0655" y="2880123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Parent </a:t>
            </a:r>
            <a:r>
              <a:rPr lang="ko-KR" altLang="en-US" sz="1600" dirty="0"/>
              <a:t>클래스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부모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49" name="육각형 48"/>
          <p:cNvSpPr/>
          <p:nvPr/>
        </p:nvSpPr>
        <p:spPr>
          <a:xfrm>
            <a:off x="3585945" y="4311066"/>
            <a:ext cx="1134878" cy="792088"/>
          </a:xfrm>
          <a:prstGeom prst="hexagon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latin typeface="+mn-ea"/>
            </a:endParaRPr>
          </a:p>
          <a:p>
            <a:pPr algn="ctr"/>
            <a:r>
              <a:rPr lang="ko-KR" altLang="en-US" dirty="0">
                <a:latin typeface="+mn-ea"/>
              </a:rPr>
              <a:t>하위</a:t>
            </a:r>
            <a:endParaRPr lang="en-US" altLang="ko-KR" dirty="0">
              <a:latin typeface="+mn-ea"/>
            </a:endParaRP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910655" y="4260252"/>
            <a:ext cx="165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Child </a:t>
            </a:r>
            <a:r>
              <a:rPr lang="ko-KR" altLang="en-US" sz="1600" dirty="0"/>
              <a:t>클래스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자식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5296887" y="4152291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부모타입 변수 </a:t>
            </a:r>
            <a:r>
              <a:rPr lang="en-US" altLang="ko-KR" dirty="0"/>
              <a:t>= </a:t>
            </a:r>
            <a:r>
              <a:rPr lang="ko-KR" altLang="en-US" dirty="0"/>
              <a:t>자식타입</a:t>
            </a:r>
          </a:p>
        </p:txBody>
      </p:sp>
      <p:sp>
        <p:nvSpPr>
          <p:cNvPr id="51" name="자유형 50"/>
          <p:cNvSpPr/>
          <p:nvPr/>
        </p:nvSpPr>
        <p:spPr>
          <a:xfrm>
            <a:off x="6075520" y="3712259"/>
            <a:ext cx="1483567" cy="354564"/>
          </a:xfrm>
          <a:custGeom>
            <a:avLst/>
            <a:gdLst>
              <a:gd name="connsiteX0" fmla="*/ 1474237 w 1483567"/>
              <a:gd name="connsiteY0" fmla="*/ 317241 h 354564"/>
              <a:gd name="connsiteX1" fmla="*/ 1483567 w 1483567"/>
              <a:gd name="connsiteY1" fmla="*/ 0 h 354564"/>
              <a:gd name="connsiteX2" fmla="*/ 0 w 1483567"/>
              <a:gd name="connsiteY2" fmla="*/ 9331 h 354564"/>
              <a:gd name="connsiteX3" fmla="*/ 9330 w 1483567"/>
              <a:gd name="connsiteY3" fmla="*/ 354564 h 354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3567" h="354564">
                <a:moveTo>
                  <a:pt x="1474237" y="317241"/>
                </a:moveTo>
                <a:lnTo>
                  <a:pt x="1483567" y="0"/>
                </a:lnTo>
                <a:lnTo>
                  <a:pt x="0" y="9331"/>
                </a:lnTo>
                <a:lnTo>
                  <a:pt x="9330" y="354564"/>
                </a:lnTo>
              </a:path>
            </a:pathLst>
          </a:custGeom>
          <a:noFill/>
          <a:ln w="190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6052971" y="3303369"/>
            <a:ext cx="1512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>
                <a:solidFill>
                  <a:srgbClr val="0070C0"/>
                </a:solidFill>
              </a:rPr>
              <a:t>자동타입변환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1052736"/>
            <a:ext cx="465299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타입변환이란</a:t>
            </a:r>
            <a:r>
              <a:rPr lang="en-US" altLang="ko-KR" sz="2000" b="1" dirty="0">
                <a:solidFill>
                  <a:srgbClr val="C00000"/>
                </a:solidFill>
              </a:rPr>
              <a:t>?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877361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en-US" altLang="ko-KR" dirty="0"/>
              <a:t>(polymorphism)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03" y="2464091"/>
            <a:ext cx="6194922" cy="34851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241032" y="5076644"/>
            <a:ext cx="1872208" cy="432048"/>
          </a:xfrm>
          <a:prstGeom prst="roundRect">
            <a:avLst>
              <a:gd name="adj" fmla="val 13110"/>
            </a:avLst>
          </a:prstGeom>
          <a:noFill/>
          <a:ln w="285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067026" y="4466779"/>
            <a:ext cx="2065040" cy="3385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ko-KR" altLang="en-US" sz="1600" dirty="0"/>
              <a:t>매개변수의 </a:t>
            </a:r>
            <a:r>
              <a:rPr lang="ko-KR" altLang="en-US" sz="1600" dirty="0" err="1"/>
              <a:t>다형성</a:t>
            </a:r>
            <a:endParaRPr lang="ko-KR" altLang="en-US" sz="1600" dirty="0"/>
          </a:p>
        </p:txBody>
      </p:sp>
      <p:cxnSp>
        <p:nvCxnSpPr>
          <p:cNvPr id="10" name="직선 화살표 연결선 9"/>
          <p:cNvCxnSpPr>
            <a:stCxn id="9" idx="1"/>
            <a:endCxn id="7" idx="0"/>
          </p:cNvCxnSpPr>
          <p:nvPr/>
        </p:nvCxnSpPr>
        <p:spPr>
          <a:xfrm flipH="1">
            <a:off x="6177136" y="4636056"/>
            <a:ext cx="889890" cy="44058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1052736"/>
            <a:ext cx="4652991" cy="5760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매개변수의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endParaRPr lang="en-US" altLang="ko-KR" sz="1800" dirty="0"/>
          </a:p>
        </p:txBody>
      </p:sp>
      <p:sp>
        <p:nvSpPr>
          <p:cNvPr id="14" name="직사각형 13"/>
          <p:cNvSpPr/>
          <p:nvPr/>
        </p:nvSpPr>
        <p:spPr>
          <a:xfrm>
            <a:off x="1349493" y="1550514"/>
            <a:ext cx="67718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/>
              <a:t>매개값을</a:t>
            </a:r>
            <a:r>
              <a:rPr lang="ko-KR" altLang="en-US" sz="1600" dirty="0"/>
              <a:t> 다양화하기 위해 매개변수를 부모타입으로 선언하고 </a:t>
            </a:r>
            <a:r>
              <a:rPr lang="ko-KR" altLang="en-US" sz="1600" dirty="0" err="1"/>
              <a:t>호출할때</a:t>
            </a:r>
            <a:r>
              <a:rPr lang="ko-KR" altLang="en-US" sz="1600" dirty="0"/>
              <a:t> 자식 객체를 대입한다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42704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ko-KR" altLang="en-US" dirty="0"/>
              <a:t> 예제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334369" y="1995622"/>
            <a:ext cx="1052292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  </a:t>
            </a:r>
          </a:p>
          <a:p>
            <a:pPr algn="ctr"/>
            <a:r>
              <a:rPr lang="en-US" altLang="ko-KR" dirty="0">
                <a:latin typeface="+mn-ea"/>
              </a:rPr>
              <a:t>Fruit</a:t>
            </a:r>
          </a:p>
          <a:p>
            <a:pPr algn="ctr"/>
            <a:endParaRPr lang="en-US" altLang="ko-KR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968530" y="3507171"/>
            <a:ext cx="108012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Grape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4674" y="3516329"/>
            <a:ext cx="1080120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Peach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560818" y="3516329"/>
            <a:ext cx="1055755" cy="56074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+mn-ea"/>
              </a:rPr>
              <a:t>Banana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2688608" y="2622931"/>
            <a:ext cx="2304258" cy="884240"/>
            <a:chOff x="3224806" y="3272951"/>
            <a:chExt cx="2592290" cy="884240"/>
          </a:xfrm>
        </p:grpSpPr>
        <p:grpSp>
          <p:nvGrpSpPr>
            <p:cNvPr id="11" name="그룹 10"/>
            <p:cNvGrpSpPr/>
            <p:nvPr/>
          </p:nvGrpSpPr>
          <p:grpSpPr>
            <a:xfrm>
              <a:off x="4403192" y="3272951"/>
              <a:ext cx="235517" cy="444080"/>
              <a:chOff x="4357443" y="3272952"/>
              <a:chExt cx="235517" cy="444080"/>
            </a:xfrm>
          </p:grpSpPr>
          <p:sp>
            <p:nvSpPr>
              <p:cNvPr id="12" name="이등변 삼각형 11">
                <a:extLst>
                  <a:ext uri="{FF2B5EF4-FFF2-40B4-BE49-F238E27FC236}">
                    <a16:creationId xmlns:a16="http://schemas.microsoft.com/office/drawing/2014/main" id="{A928C65B-0F62-4DFC-9220-DF40E5958238}"/>
                  </a:ext>
                </a:extLst>
              </p:cNvPr>
              <p:cNvSpPr/>
              <p:nvPr/>
            </p:nvSpPr>
            <p:spPr>
              <a:xfrm>
                <a:off x="4357443" y="3272952"/>
                <a:ext cx="235517" cy="154551"/>
              </a:xfrm>
              <a:prstGeom prst="triangle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D15E6F92-B9C8-4563-8C4E-646F583209B9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4475202" y="3427503"/>
                <a:ext cx="0" cy="289529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</p:cxnSp>
        </p:grpSp>
        <p:grpSp>
          <p:nvGrpSpPr>
            <p:cNvPr id="2" name="그룹 1"/>
            <p:cNvGrpSpPr/>
            <p:nvPr/>
          </p:nvGrpSpPr>
          <p:grpSpPr>
            <a:xfrm>
              <a:off x="3224806" y="3717032"/>
              <a:ext cx="2592290" cy="440159"/>
              <a:chOff x="3152799" y="3717032"/>
              <a:chExt cx="2592290" cy="440159"/>
            </a:xfrm>
          </p:grpSpPr>
          <p:grpSp>
            <p:nvGrpSpPr>
              <p:cNvPr id="16" name="그룹 15"/>
              <p:cNvGrpSpPr/>
              <p:nvPr/>
            </p:nvGrpSpPr>
            <p:grpSpPr>
              <a:xfrm>
                <a:off x="3152799" y="3717032"/>
                <a:ext cx="1296145" cy="440159"/>
                <a:chOff x="1406902" y="3597087"/>
                <a:chExt cx="2271555" cy="440159"/>
              </a:xfrm>
            </p:grpSpPr>
            <p:cxnSp>
              <p:nvCxnSpPr>
                <p:cNvPr id="17" name="직선 연결선 16"/>
                <p:cNvCxnSpPr/>
                <p:nvPr/>
              </p:nvCxnSpPr>
              <p:spPr>
                <a:xfrm>
                  <a:off x="1406902" y="3597087"/>
                  <a:ext cx="2271555" cy="0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18" name="직선 연결선 17"/>
                <p:cNvCxnSpPr/>
                <p:nvPr/>
              </p:nvCxnSpPr>
              <p:spPr>
                <a:xfrm>
                  <a:off x="1406902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19" name="직선 연결선 18"/>
                <p:cNvCxnSpPr/>
                <p:nvPr/>
              </p:nvCxnSpPr>
              <p:spPr>
                <a:xfrm>
                  <a:off x="3678457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22" name="그룹 21"/>
              <p:cNvGrpSpPr/>
              <p:nvPr/>
            </p:nvGrpSpPr>
            <p:grpSpPr>
              <a:xfrm>
                <a:off x="4448944" y="3717032"/>
                <a:ext cx="1296145" cy="440159"/>
                <a:chOff x="1406902" y="3597087"/>
                <a:chExt cx="2271555" cy="440159"/>
              </a:xfrm>
            </p:grpSpPr>
            <p:cxnSp>
              <p:nvCxnSpPr>
                <p:cNvPr id="23" name="직선 연결선 22"/>
                <p:cNvCxnSpPr/>
                <p:nvPr/>
              </p:nvCxnSpPr>
              <p:spPr>
                <a:xfrm>
                  <a:off x="1406902" y="3597087"/>
                  <a:ext cx="2271555" cy="0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4" name="직선 연결선 23"/>
                <p:cNvCxnSpPr/>
                <p:nvPr/>
              </p:nvCxnSpPr>
              <p:spPr>
                <a:xfrm>
                  <a:off x="1406902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  <p:cxnSp>
              <p:nvCxnSpPr>
                <p:cNvPr id="25" name="직선 연결선 24"/>
                <p:cNvCxnSpPr/>
                <p:nvPr/>
              </p:nvCxnSpPr>
              <p:spPr>
                <a:xfrm>
                  <a:off x="3678457" y="3597087"/>
                  <a:ext cx="0" cy="440159"/>
                </a:xfrm>
                <a:prstGeom prst="line">
                  <a:avLst/>
                </a:prstGeom>
                <a:ln/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</p:cxnSp>
          </p:grpSp>
        </p:grpSp>
      </p:grpSp>
      <p:sp>
        <p:nvSpPr>
          <p:cNvPr id="27" name="TextBox 26"/>
          <p:cNvSpPr txBox="1"/>
          <p:nvPr/>
        </p:nvSpPr>
        <p:spPr>
          <a:xfrm>
            <a:off x="927348" y="1052736"/>
            <a:ext cx="51777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과일의 종류를 선택하는 </a:t>
            </a:r>
            <a:r>
              <a:rPr lang="ko-KR" altLang="en-US" sz="2000" b="1" dirty="0" err="1">
                <a:solidFill>
                  <a:srgbClr val="C00000"/>
                </a:solidFill>
              </a:rPr>
              <a:t>다형성</a:t>
            </a:r>
            <a:r>
              <a:rPr lang="ko-KR" altLang="en-US" sz="2000" b="1" dirty="0">
                <a:solidFill>
                  <a:srgbClr val="C00000"/>
                </a:solidFill>
              </a:rPr>
              <a:t> 예제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05" y="4635085"/>
            <a:ext cx="3221062" cy="7837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2619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ko-KR" altLang="en-US" dirty="0"/>
              <a:t> 예제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064568" y="1052736"/>
            <a:ext cx="3240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Fruit, Grape </a:t>
            </a:r>
            <a:r>
              <a:rPr lang="ko-KR" altLang="en-US" sz="2000" b="1" dirty="0"/>
              <a:t>클래스</a:t>
            </a:r>
            <a:r>
              <a:rPr lang="en-US" altLang="ko-KR" sz="2000" b="1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81" y="3509934"/>
            <a:ext cx="7201936" cy="19268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80" y="1728826"/>
            <a:ext cx="5689768" cy="15870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11406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ko-KR" altLang="en-US" dirty="0"/>
              <a:t> 예제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92560" y="996165"/>
            <a:ext cx="72728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/>
              <a:t>Peach, Banana </a:t>
            </a:r>
            <a:r>
              <a:rPr lang="ko-KR" altLang="en-US" sz="2000" b="1" dirty="0"/>
              <a:t>클래스</a:t>
            </a:r>
            <a:endParaRPr lang="en-US" altLang="ko-KR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13" y="1644237"/>
            <a:ext cx="6912768" cy="17978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813" y="3660461"/>
            <a:ext cx="6912768" cy="18567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23478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 err="1"/>
              <a:t>다형성</a:t>
            </a:r>
            <a:r>
              <a:rPr lang="ko-KR" altLang="en-US" dirty="0"/>
              <a:t> 예제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36576" y="980728"/>
            <a:ext cx="259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 err="1"/>
              <a:t>FruitTest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628800"/>
            <a:ext cx="5616624" cy="44605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75768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424608" y="1547230"/>
            <a:ext cx="777686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상위 클래스로 형 변환되었던 하위 클래스를 다시 원래 </a:t>
            </a:r>
            <a:r>
              <a:rPr lang="ko-KR" altLang="en-US" sz="1600" dirty="0" err="1"/>
              <a:t>자료형으로</a:t>
            </a:r>
            <a:r>
              <a:rPr lang="ko-KR" altLang="en-US" sz="1600" dirty="0"/>
              <a:t> 형 변환하는 것을 다운 캐스팅이라고 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하위 클래스의 </a:t>
            </a:r>
            <a:r>
              <a:rPr lang="ko-KR" altLang="en-US" sz="1600" dirty="0" err="1"/>
              <a:t>메소드를</a:t>
            </a:r>
            <a:r>
              <a:rPr lang="ko-KR" altLang="en-US" sz="1600" dirty="0"/>
              <a:t> 사용해야 할 때 형 변환한다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rgbClr val="C00000"/>
                </a:solidFill>
              </a:rPr>
              <a:t>instanceof</a:t>
            </a:r>
            <a:r>
              <a:rPr lang="en-US" altLang="ko-KR" sz="1600" dirty="0"/>
              <a:t>  </a:t>
            </a:r>
            <a:r>
              <a:rPr lang="ko-KR" altLang="en-US" sz="1600" dirty="0" err="1"/>
              <a:t>예약어</a:t>
            </a:r>
            <a:r>
              <a:rPr lang="ko-KR" altLang="en-US" sz="1600" dirty="0"/>
              <a:t> 사용</a:t>
            </a:r>
            <a:endParaRPr lang="en-US" altLang="ko-KR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1016563" y="1052736"/>
            <a:ext cx="70327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하위 클래스로 형 변환 </a:t>
            </a:r>
            <a:r>
              <a:rPr lang="en-US" altLang="ko-KR" sz="2000" b="1" dirty="0">
                <a:solidFill>
                  <a:srgbClr val="C00000"/>
                </a:solidFill>
              </a:rPr>
              <a:t>-&gt; </a:t>
            </a:r>
            <a:r>
              <a:rPr lang="ko-KR" altLang="en-US" sz="2000" b="1" dirty="0">
                <a:solidFill>
                  <a:srgbClr val="C00000"/>
                </a:solidFill>
              </a:rPr>
              <a:t>강제 </a:t>
            </a:r>
            <a:r>
              <a:rPr lang="ko-KR" altLang="en-US" sz="2000" b="1" dirty="0" err="1">
                <a:solidFill>
                  <a:srgbClr val="C00000"/>
                </a:solidFill>
              </a:rPr>
              <a:t>타입변환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다운 캐스팅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856656" y="3284984"/>
            <a:ext cx="4248472" cy="17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if(animal </a:t>
            </a:r>
            <a:r>
              <a:rPr lang="en-US" altLang="ko-KR" dirty="0" err="1">
                <a:solidFill>
                  <a:srgbClr val="C00000"/>
                </a:solidFill>
              </a:rPr>
              <a:t>instanceof</a:t>
            </a:r>
            <a:r>
              <a:rPr lang="en-US" altLang="ko-KR" dirty="0"/>
              <a:t> Human) { 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Human </a:t>
            </a:r>
            <a:r>
              <a:rPr lang="en-US" altLang="ko-KR" dirty="0" err="1"/>
              <a:t>human</a:t>
            </a:r>
            <a:r>
              <a:rPr lang="en-US" altLang="ko-KR" dirty="0"/>
              <a:t> = (Human)animal;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</a:t>
            </a:r>
            <a:r>
              <a:rPr lang="en-US" altLang="ko-KR" dirty="0" err="1"/>
              <a:t>human.readBook</a:t>
            </a:r>
            <a:r>
              <a:rPr lang="en-US" altLang="ko-KR" dirty="0"/>
              <a:t>();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6959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1048961"/>
            <a:ext cx="523258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부모에 없는 자식 클래스의 </a:t>
            </a:r>
            <a:r>
              <a:rPr lang="ko-KR" altLang="en-US" b="1" dirty="0" err="1">
                <a:solidFill>
                  <a:srgbClr val="C00000"/>
                </a:solidFill>
              </a:rPr>
              <a:t>메서드</a:t>
            </a:r>
            <a:r>
              <a:rPr lang="ko-KR" altLang="en-US" b="1" dirty="0">
                <a:solidFill>
                  <a:srgbClr val="C00000"/>
                </a:solidFill>
              </a:rPr>
              <a:t> 사용 예제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5705073" cy="44644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6761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1048961"/>
            <a:ext cx="523258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부모에 없는 자식 클래스의 </a:t>
            </a:r>
            <a:r>
              <a:rPr lang="ko-KR" altLang="en-US" b="1" dirty="0" err="1">
                <a:solidFill>
                  <a:srgbClr val="C00000"/>
                </a:solidFill>
              </a:rPr>
              <a:t>메서드</a:t>
            </a:r>
            <a:r>
              <a:rPr lang="ko-KR" altLang="en-US" b="1" dirty="0">
                <a:solidFill>
                  <a:srgbClr val="C00000"/>
                </a:solidFill>
              </a:rPr>
              <a:t> 사용 예제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28800"/>
            <a:ext cx="5966936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2693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1048961"/>
            <a:ext cx="523258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부모에 없는 자식 클래스의 </a:t>
            </a:r>
            <a:r>
              <a:rPr lang="ko-KR" altLang="en-US" b="1" dirty="0" err="1">
                <a:solidFill>
                  <a:srgbClr val="C00000"/>
                </a:solidFill>
              </a:rPr>
              <a:t>메서드</a:t>
            </a:r>
            <a:r>
              <a:rPr lang="ko-KR" altLang="en-US" b="1" dirty="0">
                <a:solidFill>
                  <a:srgbClr val="C00000"/>
                </a:solidFill>
              </a:rPr>
              <a:t> 사용 예제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93355"/>
            <a:ext cx="6874734" cy="47159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6591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강제 타입 변환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16563" y="1048961"/>
            <a:ext cx="523258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rgbClr val="C00000"/>
                </a:solidFill>
              </a:rPr>
              <a:t>부모에 없는 자식 클래스의 </a:t>
            </a:r>
            <a:r>
              <a:rPr lang="ko-KR" altLang="en-US" b="1" dirty="0" err="1">
                <a:solidFill>
                  <a:srgbClr val="C00000"/>
                </a:solidFill>
              </a:rPr>
              <a:t>메서드</a:t>
            </a:r>
            <a:r>
              <a:rPr lang="ko-KR" altLang="en-US" b="1" dirty="0">
                <a:solidFill>
                  <a:srgbClr val="C00000"/>
                </a:solidFill>
              </a:rPr>
              <a:t> 사용 예제</a:t>
            </a:r>
            <a:endParaRPr lang="en-US" altLang="ko-KR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5523313" cy="48754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139" y="3573016"/>
            <a:ext cx="3272858" cy="171134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0348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9616</TotalTime>
  <Words>672</Words>
  <Application>Microsoft Office PowerPoint</Application>
  <PresentationFormat>A4 용지(210x297mm)</PresentationFormat>
  <Paragraphs>194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5장. 상속과 다형성</vt:lpstr>
      <vt:lpstr>  상속(Inheritance)</vt:lpstr>
      <vt:lpstr>  차량과 전기차 클래스 상속</vt:lpstr>
      <vt:lpstr>  차량과 전기차 클래스 상속</vt:lpstr>
      <vt:lpstr>  차량과 전기차 클래스 상속</vt:lpstr>
      <vt:lpstr>  super() – 부모 멤버 상속</vt:lpstr>
      <vt:lpstr>  메서드 재정의(Overriding)</vt:lpstr>
      <vt:lpstr>  매출 전표 만들기</vt:lpstr>
      <vt:lpstr>  매출 전표 – Drink 클래스</vt:lpstr>
      <vt:lpstr>  매출 전표 – Drink 클래스</vt:lpstr>
      <vt:lpstr>  매출 전표 – Alcohol 클래스</vt:lpstr>
      <vt:lpstr>  매출 전표 – Main 클래스</vt:lpstr>
      <vt:lpstr>  매출 전표 – Main 클래스</vt:lpstr>
      <vt:lpstr>  매출 전표 – Main 클래스</vt:lpstr>
      <vt:lpstr>  매출 전표 – Main 클래스</vt:lpstr>
      <vt:lpstr>  실습 문제 - 상속</vt:lpstr>
      <vt:lpstr>  다형성(polymorphism)</vt:lpstr>
      <vt:lpstr>  다형성(polymorphism)</vt:lpstr>
      <vt:lpstr>  다형성(polymorphism)</vt:lpstr>
      <vt:lpstr>  자동 타입 변환</vt:lpstr>
      <vt:lpstr>  다형성(polymorphism)</vt:lpstr>
      <vt:lpstr>  다형성 예제</vt:lpstr>
      <vt:lpstr>  다형성 예제</vt:lpstr>
      <vt:lpstr>  다형성 예제</vt:lpstr>
      <vt:lpstr>  다형성 예제</vt:lpstr>
      <vt:lpstr>  강제 타입 변환</vt:lpstr>
      <vt:lpstr>  강제 타입 변환</vt:lpstr>
      <vt:lpstr>  강제 타입 변환</vt:lpstr>
      <vt:lpstr>  강제 타입 변환</vt:lpstr>
      <vt:lpstr>  강제 타입 변환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554</cp:revision>
  <dcterms:created xsi:type="dcterms:W3CDTF">2019-03-04T02:36:55Z</dcterms:created>
  <dcterms:modified xsi:type="dcterms:W3CDTF">2026-08-13T00:46:29Z</dcterms:modified>
</cp:coreProperties>
</file>